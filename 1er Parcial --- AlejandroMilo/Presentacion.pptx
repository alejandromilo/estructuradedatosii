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3"/>
    <p:sldId id="257" r:id="rId4"/>
    <p:sldId id="258" r:id="rId5"/>
    <p:sldId id="260" r:id="rId6"/>
    <p:sldId id="259" r:id="rId7"/>
    <p:sldId id="261" r:id="rId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612F"/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microsoft.com/office/2007/relationships/media" Target="../media/media1.mp3"/><Relationship Id="rId2" Type="http://schemas.openxmlformats.org/officeDocument/2006/relationships/audio" Target="../media/media1.mp3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.png"/><Relationship Id="rId2" Type="http://schemas.microsoft.com/office/2007/relationships/media" Target="../media/media2.mp3"/><Relationship Id="rId1" Type="http://schemas.openxmlformats.org/officeDocument/2006/relationships/audio" Target="../media/media2.mp3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png"/><Relationship Id="rId3" Type="http://schemas.microsoft.com/office/2007/relationships/media" Target="../media/media3.mp3"/><Relationship Id="rId2" Type="http://schemas.openxmlformats.org/officeDocument/2006/relationships/audio" Target="../media/media3.mp3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microsoft.com/office/2007/relationships/media" Target="../media/media4.mp3"/><Relationship Id="rId3" Type="http://schemas.openxmlformats.org/officeDocument/2006/relationships/audio" Target="../media/media4.mp3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microsoft.com/office/2007/relationships/media" Target="../media/media5.mp3"/><Relationship Id="rId3" Type="http://schemas.openxmlformats.org/officeDocument/2006/relationships/audio" Target="../media/media5.mp3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microsoft.com/office/2007/relationships/media" Target="../media/media6.mp3"/><Relationship Id="rId1" Type="http://schemas.openxmlformats.org/officeDocument/2006/relationships/audio" Target="../media/media6.mp3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7695" y="2383790"/>
            <a:ext cx="8437245" cy="830580"/>
          </a:xfrm>
        </p:spPr>
        <p:txBody>
          <a:bodyPr/>
          <a:lstStyle/>
          <a:p>
            <a:r>
              <a:rPr lang="en-US" sz="3400">
                <a:latin typeface="Arial Rounded MT Bold" panose="020F0704030504030204" charset="0"/>
                <a:cs typeface="Arial Rounded MT Bold" panose="020F0704030504030204" charset="0"/>
              </a:rPr>
              <a:t>T</a:t>
            </a:r>
            <a:r>
              <a:rPr lang="es-ES" altLang="en-US" sz="3400">
                <a:latin typeface="Arial Rounded MT Bold" panose="020F0704030504030204" charset="0"/>
                <a:cs typeface="Arial Rounded MT Bold" panose="020F0704030504030204" charset="0"/>
                <a:sym typeface="+mn-ea"/>
              </a:rPr>
              <a:t>í</a:t>
            </a:r>
            <a:r>
              <a:rPr lang="en-US" sz="3400">
                <a:latin typeface="Arial Rounded MT Bold" panose="020F0704030504030204" charset="0"/>
                <a:cs typeface="Arial Rounded MT Bold" panose="020F0704030504030204" charset="0"/>
              </a:rPr>
              <a:t>tulo</a:t>
            </a:r>
            <a:r>
              <a:rPr lang="es-ES" altLang="en-US" sz="3400">
                <a:latin typeface="Arial Rounded MT Bold" panose="020F0704030504030204" charset="0"/>
                <a:cs typeface="Arial Rounded MT Bold" panose="020F0704030504030204" charset="0"/>
              </a:rPr>
              <a:t> </a:t>
            </a:r>
            <a:endParaRPr lang="es-ES" altLang="en-US" sz="340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3743960" y="4786630"/>
            <a:ext cx="4705350" cy="1655445"/>
          </a:xfrm>
        </p:spPr>
        <p:txBody>
          <a:bodyPr>
            <a:normAutofit lnSpcReduction="10000"/>
          </a:bodyPr>
          <a:lstStyle/>
          <a:p>
            <a:r>
              <a:rPr lang="en-US" sz="2600">
                <a:solidFill>
                  <a:schemeClr val="tx1"/>
                </a:solidFill>
                <a:latin typeface="Arial Rounded MT Bold" panose="020F0704030504030204" charset="0"/>
                <a:cs typeface="Arial Rounded MT Bold" panose="020F0704030504030204" charset="0"/>
              </a:rPr>
              <a:t>Autor</a:t>
            </a:r>
            <a:endParaRPr lang="en-US" sz="2600"/>
          </a:p>
          <a:p>
            <a:pPr>
              <a:lnSpc>
                <a:spcPct val="70000"/>
              </a:lnSpc>
            </a:pPr>
            <a:r>
              <a:rPr lang="en-US" altLang="es-ES" sz="26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Alejandro Mil</a:t>
            </a:r>
            <a:r>
              <a:rPr lang="en-US" altLang="en-US" sz="26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ó</a:t>
            </a:r>
            <a:r>
              <a:rPr lang="en-US" altLang="es-ES" sz="26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 Llano</a:t>
            </a:r>
            <a:endParaRPr lang="en-US" altLang="es-ES" sz="2600">
              <a:solidFill>
                <a:srgbClr val="11612F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pPr>
              <a:lnSpc>
                <a:spcPct val="70000"/>
              </a:lnSpc>
            </a:pPr>
            <a:endParaRPr lang="en-US" altLang="es-ES" sz="2600">
              <a:solidFill>
                <a:srgbClr val="11612F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pPr>
              <a:lnSpc>
                <a:spcPct val="70000"/>
              </a:lnSpc>
            </a:pPr>
            <a:r>
              <a:rPr lang="en-US" altLang="es-ES" sz="2600">
                <a:solidFill>
                  <a:schemeClr val="tx1">
                    <a:lumMod val="50000"/>
                    <a:lumOff val="50000"/>
                  </a:schemeClr>
                </a:solidFill>
                <a:latin typeface="Arial Rounded MT Bold" panose="020F0704030504030204" charset="0"/>
                <a:cs typeface="Arial Rounded MT Bold" panose="020F0704030504030204" charset="0"/>
              </a:rPr>
              <a:t>2026</a:t>
            </a:r>
            <a:endParaRPr lang="en-US" altLang="es-ES" sz="2600">
              <a:solidFill>
                <a:schemeClr val="tx1">
                  <a:lumMod val="50000"/>
                  <a:lumOff val="50000"/>
                </a:schemeClr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3" name="Cuadro de texto 2"/>
          <p:cNvSpPr txBox="1"/>
          <p:nvPr/>
        </p:nvSpPr>
        <p:spPr>
          <a:xfrm>
            <a:off x="1906270" y="3007995"/>
            <a:ext cx="9361170" cy="1268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s-ES" sz="34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"Organizaci</a:t>
            </a:r>
            <a:r>
              <a:rPr lang="en-US" altLang="en-US" sz="34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ó</a:t>
            </a:r>
            <a:r>
              <a:rPr lang="en-US" altLang="es-ES" sz="34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n de Libro</a:t>
            </a:r>
            <a:r>
              <a:rPr lang="es-ES" altLang="en-US" sz="34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s</a:t>
            </a:r>
            <a:r>
              <a:rPr lang="en-US" altLang="es-ES" sz="34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 en una Biblioteca"</a:t>
            </a:r>
            <a:r>
              <a:rPr lang="en-US" altLang="es-ES" sz="3400">
                <a:solidFill>
                  <a:srgbClr val="11612F"/>
                </a:solidFill>
              </a:rPr>
              <a:t> </a:t>
            </a:r>
            <a:endParaRPr lang="en-US" altLang="es-ES" sz="3400">
              <a:solidFill>
                <a:srgbClr val="11612F"/>
              </a:solidFill>
            </a:endParaRPr>
          </a:p>
        </p:txBody>
      </p:sp>
      <p:pic>
        <p:nvPicPr>
          <p:cNvPr id="4" name="Presentacion Ale 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2755" y="5961380"/>
            <a:ext cx="619125" cy="619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Sing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1337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98500" y="155734"/>
            <a:ext cx="10515600" cy="1325563"/>
          </a:xfrm>
        </p:spPr>
        <p:txBody>
          <a:bodyPr/>
          <a:p>
            <a:pPr algn="l"/>
            <a:r>
              <a:rPr lang="en-US" altLang="es-ES" sz="4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 Problem</a:t>
            </a:r>
            <a:r>
              <a:rPr lang="en-US" altLang="en-US" sz="4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á</a:t>
            </a:r>
            <a:r>
              <a:rPr lang="en-US" altLang="es-ES" sz="4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tica:</a:t>
            </a:r>
            <a:endParaRPr lang="en-US" altLang="es-ES" sz="4000">
              <a:solidFill>
                <a:srgbClr val="11612F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5" name="Cuadro de texto 4"/>
          <p:cNvSpPr txBox="1"/>
          <p:nvPr/>
        </p:nvSpPr>
        <p:spPr>
          <a:xfrm>
            <a:off x="977265" y="2223135"/>
            <a:ext cx="10236835" cy="2412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s-ES" sz="4000">
                <a:latin typeface="Arial Rounded MT Bold" panose="020F0704030504030204" charset="0"/>
                <a:cs typeface="Arial Rounded MT Bold" panose="020F0704030504030204" charset="0"/>
              </a:rPr>
              <a:t>Por que el uso de lista simple o arreglos no es eficiente en la organizaci</a:t>
            </a:r>
            <a:r>
              <a:rPr lang="en-US" altLang="en-US" sz="4000">
                <a:latin typeface="Arial Rounded MT Bold" panose="020F0704030504030204" charset="0"/>
                <a:cs typeface="Arial Rounded MT Bold" panose="020F0704030504030204" charset="0"/>
              </a:rPr>
              <a:t>ó</a:t>
            </a:r>
            <a:r>
              <a:rPr lang="en-US" altLang="es-ES" sz="4000">
                <a:latin typeface="Arial Rounded MT Bold" panose="020F0704030504030204" charset="0"/>
                <a:cs typeface="Arial Rounded MT Bold" panose="020F0704030504030204" charset="0"/>
              </a:rPr>
              <a:t>n de los Libros en una Biblioteca?</a:t>
            </a:r>
            <a:endParaRPr lang="en-US" altLang="es-ES" sz="400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6" name="Rectángulo redondeado 5"/>
          <p:cNvSpPr/>
          <p:nvPr/>
        </p:nvSpPr>
        <p:spPr>
          <a:xfrm>
            <a:off x="654685" y="1675130"/>
            <a:ext cx="10883265" cy="3205480"/>
          </a:xfrm>
          <a:prstGeom prst="roundRect">
            <a:avLst/>
          </a:prstGeom>
          <a:noFill/>
          <a:ln w="76200">
            <a:solidFill>
              <a:srgbClr val="11612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pic>
        <p:nvPicPr>
          <p:cNvPr id="2" name="Problematica Ale 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58140" y="6024880"/>
            <a:ext cx="619125" cy="619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000">
        <p15:prstTrans prst="pageCurlSing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2899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Cuadro de texto 5"/>
          <p:cNvSpPr txBox="1"/>
          <p:nvPr/>
        </p:nvSpPr>
        <p:spPr>
          <a:xfrm>
            <a:off x="453390" y="423545"/>
            <a:ext cx="6851650" cy="1268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s-ES" sz="4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 Solución Propuesta:</a:t>
            </a:r>
            <a:endParaRPr lang="en-US" altLang="es-ES" sz="4000">
              <a:solidFill>
                <a:srgbClr val="11612F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pic>
        <p:nvPicPr>
          <p:cNvPr id="2" name="Imagen 1" descr="Sin título-2026-03-22-22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5845" y="1691640"/>
            <a:ext cx="5384165" cy="3458845"/>
          </a:xfrm>
          <a:prstGeom prst="rect">
            <a:avLst/>
          </a:prstGeom>
        </p:spPr>
      </p:pic>
      <p:sp>
        <p:nvSpPr>
          <p:cNvPr id="5" name="Cuadro de texto 4"/>
          <p:cNvSpPr txBox="1"/>
          <p:nvPr/>
        </p:nvSpPr>
        <p:spPr>
          <a:xfrm>
            <a:off x="9196070" y="2821305"/>
            <a:ext cx="30460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s-ES" sz="24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Diagrama </a:t>
            </a:r>
            <a:endParaRPr lang="en-US" altLang="es-ES" sz="2400">
              <a:solidFill>
                <a:srgbClr val="11612F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pPr algn="ctr"/>
            <a:r>
              <a:rPr lang="en-US" altLang="es-ES" sz="24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del </a:t>
            </a:r>
            <a:endParaRPr lang="en-US" altLang="es-ES" sz="2400">
              <a:solidFill>
                <a:srgbClr val="11612F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pPr algn="ctr"/>
            <a:r>
              <a:rPr lang="en-US" altLang="en-US" sz="24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á</a:t>
            </a:r>
            <a:r>
              <a:rPr lang="en-US" altLang="es-ES" sz="24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rbol</a:t>
            </a:r>
            <a:endParaRPr lang="en-US" altLang="es-ES" sz="2400">
              <a:solidFill>
                <a:srgbClr val="11612F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3" name="Rectángulo redondeado 2"/>
          <p:cNvSpPr/>
          <p:nvPr/>
        </p:nvSpPr>
        <p:spPr>
          <a:xfrm>
            <a:off x="3404235" y="1475740"/>
            <a:ext cx="5748020" cy="4128135"/>
          </a:xfrm>
          <a:prstGeom prst="roundRect">
            <a:avLst/>
          </a:prstGeom>
          <a:noFill/>
          <a:ln w="76200">
            <a:solidFill>
              <a:srgbClr val="11612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7" name="Rectángulo redondeado 6"/>
          <p:cNvSpPr/>
          <p:nvPr/>
        </p:nvSpPr>
        <p:spPr>
          <a:xfrm>
            <a:off x="9719945" y="2778125"/>
            <a:ext cx="2063750" cy="1348740"/>
          </a:xfrm>
          <a:prstGeom prst="roundRect">
            <a:avLst/>
          </a:prstGeom>
          <a:noFill/>
          <a:ln w="38100">
            <a:solidFill>
              <a:srgbClr val="11612F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cxnSp>
        <p:nvCxnSpPr>
          <p:cNvPr id="8" name="Conector recto de flecha 7"/>
          <p:cNvCxnSpPr>
            <a:stCxn id="7" idx="1"/>
          </p:cNvCxnSpPr>
          <p:nvPr/>
        </p:nvCxnSpPr>
        <p:spPr>
          <a:xfrm flipH="1" flipV="1">
            <a:off x="9196070" y="3444240"/>
            <a:ext cx="523875" cy="8255"/>
          </a:xfrm>
          <a:prstGeom prst="straightConnector1">
            <a:avLst/>
          </a:prstGeom>
          <a:ln w="38100">
            <a:solidFill>
              <a:srgbClr val="11612F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Cuadro de texto 9"/>
          <p:cNvSpPr txBox="1"/>
          <p:nvPr/>
        </p:nvSpPr>
        <p:spPr>
          <a:xfrm>
            <a:off x="243840" y="2778125"/>
            <a:ext cx="2660650" cy="1493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s-ES" altLang="en-US" sz="24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L</a:t>
            </a:r>
            <a:r>
              <a:rPr lang="en-US" altLang="en-US" sz="24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ó</a:t>
            </a:r>
            <a:r>
              <a:rPr lang="en-US" altLang="es-ES" sz="24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gica </a:t>
            </a:r>
            <a:endParaRPr lang="en-US" altLang="es-ES" sz="2400">
              <a:solidFill>
                <a:srgbClr val="11612F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pPr algn="ctr"/>
            <a:r>
              <a:rPr lang="en-US" altLang="es-ES" sz="24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de </a:t>
            </a:r>
            <a:endParaRPr lang="en-US" altLang="es-ES" sz="2400">
              <a:solidFill>
                <a:srgbClr val="11612F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pPr algn="ctr"/>
            <a:r>
              <a:rPr lang="es-ES" altLang="en-US" sz="24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F</a:t>
            </a:r>
            <a:r>
              <a:rPr lang="en-US" altLang="es-ES" sz="24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uncionamiento</a:t>
            </a:r>
            <a:endParaRPr lang="en-US" altLang="es-ES" sz="2400">
              <a:solidFill>
                <a:srgbClr val="11612F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11" name="Rectángulo redondeado 10"/>
          <p:cNvSpPr/>
          <p:nvPr/>
        </p:nvSpPr>
        <p:spPr>
          <a:xfrm>
            <a:off x="221615" y="2778125"/>
            <a:ext cx="2682875" cy="1428115"/>
          </a:xfrm>
          <a:prstGeom prst="roundRect">
            <a:avLst/>
          </a:prstGeom>
          <a:noFill/>
          <a:ln w="38100">
            <a:solidFill>
              <a:srgbClr val="11612F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pic>
        <p:nvPicPr>
          <p:cNvPr id="12" name="Solucion propuesta Ale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3390" y="5818505"/>
            <a:ext cx="619125" cy="619125"/>
          </a:xfrm>
          <a:prstGeom prst="rect">
            <a:avLst/>
          </a:prstGeom>
        </p:spPr>
      </p:pic>
      <p:cxnSp>
        <p:nvCxnSpPr>
          <p:cNvPr id="13" name="Conector recto de flecha 12"/>
          <p:cNvCxnSpPr>
            <a:stCxn id="11" idx="2"/>
          </p:cNvCxnSpPr>
          <p:nvPr/>
        </p:nvCxnSpPr>
        <p:spPr>
          <a:xfrm flipH="1">
            <a:off x="1056640" y="4206240"/>
            <a:ext cx="506730" cy="1572260"/>
          </a:xfrm>
          <a:prstGeom prst="straightConnector1">
            <a:avLst/>
          </a:prstGeom>
          <a:ln w="38100">
            <a:solidFill>
              <a:srgbClr val="11612F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000">
        <p15:prstTrans prst="pageCurlSing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24715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uadro de texto 3"/>
          <p:cNvSpPr txBox="1"/>
          <p:nvPr/>
        </p:nvSpPr>
        <p:spPr>
          <a:xfrm>
            <a:off x="340995" y="445770"/>
            <a:ext cx="85026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s-ES" sz="4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  Demostraci</a:t>
            </a:r>
            <a:r>
              <a:rPr lang="en-US" altLang="en-US" sz="4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ó</a:t>
            </a:r>
            <a:r>
              <a:rPr lang="en-US" altLang="es-ES" sz="4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n del c</a:t>
            </a:r>
            <a:r>
              <a:rPr lang="en-US" altLang="en-US" sz="4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ó</a:t>
            </a:r>
            <a:r>
              <a:rPr lang="en-US" altLang="es-ES" sz="4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digo:</a:t>
            </a:r>
            <a:endParaRPr lang="en-US" altLang="es-ES" sz="4000">
              <a:solidFill>
                <a:srgbClr val="11612F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1"/>
          <a:srcRect r="18874"/>
          <a:stretch>
            <a:fillRect/>
          </a:stretch>
        </p:blipFill>
        <p:spPr>
          <a:xfrm>
            <a:off x="727075" y="1521460"/>
            <a:ext cx="5743575" cy="2059940"/>
          </a:xfrm>
          <a:prstGeom prst="rect">
            <a:avLst/>
          </a:prstGeom>
        </p:spPr>
      </p:pic>
      <p:sp>
        <p:nvSpPr>
          <p:cNvPr id="6" name="Rectángulo redondeado 5"/>
          <p:cNvSpPr/>
          <p:nvPr/>
        </p:nvSpPr>
        <p:spPr>
          <a:xfrm>
            <a:off x="725805" y="1501140"/>
            <a:ext cx="5744845" cy="1998980"/>
          </a:xfrm>
          <a:prstGeom prst="roundRect">
            <a:avLst/>
          </a:prstGeom>
          <a:noFill/>
          <a:ln w="76200">
            <a:solidFill>
              <a:srgbClr val="11612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2" name="Rectángulo redondeado 1"/>
          <p:cNvSpPr/>
          <p:nvPr/>
        </p:nvSpPr>
        <p:spPr>
          <a:xfrm>
            <a:off x="5460365" y="3732530"/>
            <a:ext cx="5918835" cy="2037715"/>
          </a:xfrm>
          <a:prstGeom prst="roundRect">
            <a:avLst/>
          </a:prstGeom>
          <a:noFill/>
          <a:ln w="76200">
            <a:solidFill>
              <a:srgbClr val="11612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rcRect l="2723" t="5686" r="1114" b="8591"/>
          <a:stretch>
            <a:fillRect/>
          </a:stretch>
        </p:blipFill>
        <p:spPr>
          <a:xfrm>
            <a:off x="5612130" y="3848735"/>
            <a:ext cx="5586095" cy="1761490"/>
          </a:xfrm>
          <a:prstGeom prst="rect">
            <a:avLst/>
          </a:prstGeom>
        </p:spPr>
      </p:pic>
      <p:sp>
        <p:nvSpPr>
          <p:cNvPr id="7" name="Cuadro de texto 6"/>
          <p:cNvSpPr txBox="1"/>
          <p:nvPr/>
        </p:nvSpPr>
        <p:spPr>
          <a:xfrm>
            <a:off x="8844280" y="3333750"/>
            <a:ext cx="23539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s-ES" sz="2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Método buscar()</a:t>
            </a:r>
            <a:endParaRPr lang="en-US" altLang="es-ES" sz="2000">
              <a:solidFill>
                <a:srgbClr val="11612F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8" name="Cuadro de texto 7"/>
          <p:cNvSpPr txBox="1"/>
          <p:nvPr/>
        </p:nvSpPr>
        <p:spPr>
          <a:xfrm>
            <a:off x="912495" y="110236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s-ES" sz="2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Método Insertar()</a:t>
            </a:r>
            <a:endParaRPr lang="en-US" altLang="es-ES" sz="2000">
              <a:solidFill>
                <a:srgbClr val="11612F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pic>
        <p:nvPicPr>
          <p:cNvPr id="9" name="Metodos insertar y buscar ">
            <a:hlinkClick r:id="" action="ppaction://media"/>
          </p:cNvPr>
          <p:cNvPicPr/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27075" y="5610225"/>
            <a:ext cx="619125" cy="619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Sing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21058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0185" y="2439035"/>
            <a:ext cx="4895850" cy="1981200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665" y="1437640"/>
            <a:ext cx="4981575" cy="4010025"/>
          </a:xfrm>
          <a:prstGeom prst="rect">
            <a:avLst/>
          </a:prstGeom>
        </p:spPr>
      </p:pic>
      <p:sp>
        <p:nvSpPr>
          <p:cNvPr id="5" name="Rectángulo redondeado 4"/>
          <p:cNvSpPr/>
          <p:nvPr/>
        </p:nvSpPr>
        <p:spPr>
          <a:xfrm>
            <a:off x="1115060" y="1141095"/>
            <a:ext cx="5218430" cy="4575810"/>
          </a:xfrm>
          <a:prstGeom prst="roundRect">
            <a:avLst/>
          </a:prstGeom>
          <a:noFill/>
          <a:ln w="76200">
            <a:solidFill>
              <a:srgbClr val="11612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7" name="Rectángulo redondeado 6"/>
          <p:cNvSpPr/>
          <p:nvPr/>
        </p:nvSpPr>
        <p:spPr>
          <a:xfrm>
            <a:off x="6559550" y="2437130"/>
            <a:ext cx="4895850" cy="1983105"/>
          </a:xfrm>
          <a:prstGeom prst="roundRect">
            <a:avLst/>
          </a:prstGeom>
          <a:noFill/>
          <a:ln w="76200">
            <a:solidFill>
              <a:srgbClr val="11612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sp>
        <p:nvSpPr>
          <p:cNvPr id="8" name="Cuadro de texto 7"/>
          <p:cNvSpPr txBox="1"/>
          <p:nvPr/>
        </p:nvSpPr>
        <p:spPr>
          <a:xfrm>
            <a:off x="1715770" y="74231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s-ES" sz="2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Método Eliminar()</a:t>
            </a:r>
            <a:endParaRPr lang="en-US" altLang="es-ES" sz="2000">
              <a:solidFill>
                <a:srgbClr val="11612F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9" name="Cuadro de texto 8"/>
          <p:cNvSpPr txBox="1"/>
          <p:nvPr/>
        </p:nvSpPr>
        <p:spPr>
          <a:xfrm>
            <a:off x="8498840" y="2038350"/>
            <a:ext cx="23094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s-ES" sz="2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Método inOrden()</a:t>
            </a:r>
            <a:endParaRPr lang="en-US" altLang="es-ES" sz="2000">
              <a:solidFill>
                <a:srgbClr val="11612F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pic>
        <p:nvPicPr>
          <p:cNvPr id="2" name="5. Metodo eliminar e InOrden">
            <a:hlinkClick r:id="" action="ppaction://media"/>
          </p:cNvPr>
          <p:cNvPicPr/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7540" y="5862320"/>
            <a:ext cx="619125" cy="619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Sing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4244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Cuadro de texto 4"/>
          <p:cNvSpPr txBox="1"/>
          <p:nvPr/>
        </p:nvSpPr>
        <p:spPr>
          <a:xfrm>
            <a:off x="464820" y="438785"/>
            <a:ext cx="52444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s-ES" sz="4000">
                <a:solidFill>
                  <a:srgbClr val="11612F"/>
                </a:solidFill>
                <a:latin typeface="Arial Rounded MT Bold" panose="020F0704030504030204" charset="0"/>
                <a:cs typeface="Arial Rounded MT Bold" panose="020F0704030504030204" charset="0"/>
              </a:rPr>
              <a:t> Conclusiones:</a:t>
            </a:r>
            <a:endParaRPr lang="en-US" altLang="es-ES" sz="4000">
              <a:solidFill>
                <a:srgbClr val="11612F"/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6" name="Cuadro de texto 5"/>
          <p:cNvSpPr txBox="1"/>
          <p:nvPr/>
        </p:nvSpPr>
        <p:spPr>
          <a:xfrm>
            <a:off x="1218565" y="2396490"/>
            <a:ext cx="965263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s-ES" sz="2400">
                <a:latin typeface="Arial Rounded MT Bold" panose="020F0704030504030204" charset="0"/>
                <a:cs typeface="Arial Rounded MT Bold" panose="020F0704030504030204" charset="0"/>
              </a:rPr>
              <a:t>Las ventajas de utilizar  el  </a:t>
            </a:r>
            <a:r>
              <a:rPr lang="en-US" altLang="en-US" sz="2400">
                <a:latin typeface="Arial Rounded MT Bold" panose="020F0704030504030204" charset="0"/>
                <a:cs typeface="Arial Rounded MT Bold" panose="020F0704030504030204" charset="0"/>
              </a:rPr>
              <a:t>á</a:t>
            </a:r>
            <a:r>
              <a:rPr lang="en-US" altLang="es-ES" sz="2400">
                <a:latin typeface="Arial Rounded MT Bold" panose="020F0704030504030204" charset="0"/>
                <a:cs typeface="Arial Rounded MT Bold" panose="020F0704030504030204" charset="0"/>
              </a:rPr>
              <a:t>rbol binario de b</a:t>
            </a:r>
            <a:r>
              <a:rPr lang="en-US" altLang="en-US" sz="2400">
                <a:latin typeface="Arial Rounded MT Bold" panose="020F0704030504030204" charset="0"/>
                <a:cs typeface="Arial Rounded MT Bold" panose="020F0704030504030204" charset="0"/>
              </a:rPr>
              <a:t>ú</a:t>
            </a:r>
            <a:r>
              <a:rPr lang="en-US" altLang="es-ES" sz="2400">
                <a:latin typeface="Arial Rounded MT Bold" panose="020F0704030504030204" charset="0"/>
                <a:cs typeface="Arial Rounded MT Bold" panose="020F0704030504030204" charset="0"/>
              </a:rPr>
              <a:t>squeda  son la  inserci</a:t>
            </a:r>
            <a:r>
              <a:rPr lang="en-US" altLang="en-US" sz="2400">
                <a:latin typeface="Arial Rounded MT Bold" panose="020F0704030504030204" charset="0"/>
                <a:cs typeface="Arial Rounded MT Bold" panose="020F0704030504030204" charset="0"/>
              </a:rPr>
              <a:t>ó</a:t>
            </a:r>
            <a:r>
              <a:rPr lang="en-US" altLang="es-ES" sz="2400">
                <a:latin typeface="Arial Rounded MT Bold" panose="020F0704030504030204" charset="0"/>
                <a:cs typeface="Arial Rounded MT Bold" panose="020F0704030504030204" charset="0"/>
              </a:rPr>
              <a:t>n, b</a:t>
            </a:r>
            <a:r>
              <a:rPr lang="en-US" altLang="en-US" sz="2400">
                <a:latin typeface="Arial Rounded MT Bold" panose="020F0704030504030204" charset="0"/>
                <a:cs typeface="Arial Rounded MT Bold" panose="020F0704030504030204" charset="0"/>
              </a:rPr>
              <a:t>ú</a:t>
            </a:r>
            <a:r>
              <a:rPr lang="en-US" altLang="es-ES" sz="2400">
                <a:latin typeface="Arial Rounded MT Bold" panose="020F0704030504030204" charset="0"/>
                <a:cs typeface="Arial Rounded MT Bold" panose="020F0704030504030204" charset="0"/>
              </a:rPr>
              <a:t>squeda  y eliminaci</a:t>
            </a:r>
            <a:r>
              <a:rPr lang="en-US" altLang="en-US" sz="2400">
                <a:latin typeface="Arial Rounded MT Bold" panose="020F0704030504030204" charset="0"/>
                <a:cs typeface="Arial Rounded MT Bold" panose="020F0704030504030204" charset="0"/>
              </a:rPr>
              <a:t>ó</a:t>
            </a:r>
            <a:r>
              <a:rPr lang="en-US" altLang="es-ES" sz="2400">
                <a:latin typeface="Arial Rounded MT Bold" panose="020F0704030504030204" charset="0"/>
                <a:cs typeface="Arial Rounded MT Bold" panose="020F0704030504030204" charset="0"/>
              </a:rPr>
              <a:t>n  de forma r</a:t>
            </a:r>
            <a:r>
              <a:rPr lang="en-US" altLang="en-US" sz="2400">
                <a:latin typeface="Arial Rounded MT Bold" panose="020F0704030504030204" charset="0"/>
                <a:cs typeface="Arial Rounded MT Bold" panose="020F0704030504030204" charset="0"/>
              </a:rPr>
              <a:t>á</a:t>
            </a:r>
            <a:r>
              <a:rPr lang="en-US" altLang="es-ES" sz="2400">
                <a:latin typeface="Arial Rounded MT Bold" panose="020F0704030504030204" charset="0"/>
                <a:cs typeface="Arial Rounded MT Bold" panose="020F0704030504030204" charset="0"/>
              </a:rPr>
              <a:t>pida, manteniendo los datos ordenados  y escalables, funcionando, incluso, con colecciones grandes de informaci</a:t>
            </a:r>
            <a:r>
              <a:rPr lang="en-US" altLang="en-US" sz="2400">
                <a:latin typeface="Arial Rounded MT Bold" panose="020F0704030504030204" charset="0"/>
                <a:cs typeface="Arial Rounded MT Bold" panose="020F0704030504030204" charset="0"/>
              </a:rPr>
              <a:t>ó</a:t>
            </a:r>
            <a:r>
              <a:rPr lang="en-US" altLang="es-ES" sz="2400">
                <a:latin typeface="Arial Rounded MT Bold" panose="020F0704030504030204" charset="0"/>
                <a:cs typeface="Arial Rounded MT Bold" panose="020F0704030504030204" charset="0"/>
              </a:rPr>
              <a:t>n.</a:t>
            </a:r>
            <a:endParaRPr lang="en-US" altLang="es-ES" sz="2400">
              <a:latin typeface="Arial Rounded MT Bold" panose="020F0704030504030204" charset="0"/>
              <a:cs typeface="Arial Rounded MT Bold" panose="020F0704030504030204" charset="0"/>
            </a:endParaRPr>
          </a:p>
        </p:txBody>
      </p:sp>
      <p:sp>
        <p:nvSpPr>
          <p:cNvPr id="7" name="Rectángulo redondeado 6"/>
          <p:cNvSpPr/>
          <p:nvPr/>
        </p:nvSpPr>
        <p:spPr>
          <a:xfrm>
            <a:off x="892175" y="2146300"/>
            <a:ext cx="10182860" cy="2101850"/>
          </a:xfrm>
          <a:prstGeom prst="roundRect">
            <a:avLst/>
          </a:prstGeom>
          <a:noFill/>
          <a:ln w="76200">
            <a:solidFill>
              <a:srgbClr val="11612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s-ES" altLang="en-US"/>
          </a:p>
        </p:txBody>
      </p:sp>
      <p:pic>
        <p:nvPicPr>
          <p:cNvPr id="2" name="Concluciones Ale 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64820" y="5659755"/>
            <a:ext cx="619125" cy="619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Sing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1724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595</Words>
  <Application>WPS Presentation</Application>
  <PresentationFormat>宽屏</PresentationFormat>
  <Paragraphs>37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Calibri Light</vt:lpstr>
      <vt:lpstr>Arial Rounded MT Bold</vt:lpstr>
      <vt:lpstr>Calibri</vt:lpstr>
      <vt:lpstr>Microsoft YaHei</vt:lpstr>
      <vt:lpstr>Arial Unicode MS</vt:lpstr>
      <vt:lpstr>Office Theme</vt:lpstr>
      <vt:lpstr>Título </vt:lpstr>
      <vt:lpstr> Problemática: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Beatriz Machín Ordaz</cp:lastModifiedBy>
  <cp:revision>9</cp:revision>
  <dcterms:created xsi:type="dcterms:W3CDTF">2025-07-23T00:59:00Z</dcterms:created>
  <dcterms:modified xsi:type="dcterms:W3CDTF">2026-03-25T01:36:55Z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3082-12.2.0.23196</vt:lpwstr>
  </property>
  <property fmtid="{D5CDD505-2E9C-101B-9397-08002B2CF9AE}" pid="3" name="ICV">
    <vt:lpwstr>AAF0301716954F88A2522E7942F294D5_11</vt:lpwstr>
  </property>
</Properties>
</file>